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3840480" cy="384048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10149840" y="557784"/>
            <a:ext cx="50292" cy="9144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227564" y="502920"/>
            <a:ext cx="50292" cy="201168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305288" y="448056"/>
            <a:ext cx="50292" cy="310896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383012" y="521208"/>
            <a:ext cx="50292" cy="164592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460736" y="420624"/>
            <a:ext cx="50292" cy="36576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538460" y="484632"/>
            <a:ext cx="50292" cy="237744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616184" y="548640"/>
            <a:ext cx="50292" cy="109728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0693908" y="466344"/>
            <a:ext cx="50292" cy="27432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771632" y="530352"/>
            <a:ext cx="50292" cy="146304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14630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Pickup confirmations still run one phone call at a time.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502920" y="2788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field teams keep spreadsheets of provider and site contacts, then manually dial each one to confirm whether machines are ready for pickup or engineer de-installation.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02920" y="388620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4088" y="4133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B2A3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4261104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35608" y="4050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manual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35608" y="4416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rep, one number, one call at a time. Campaigns crawl.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63640" y="388620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64808" y="4133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B2A3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4261104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96328" y="4050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196328" y="4416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 discipline. Outcomes change with whoever dialed.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02920" y="516636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04088" y="54132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B2A3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541264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35608" y="5330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Unauditable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435608" y="56967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recording, transcript, or disposition trail to trust.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263640" y="516636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64808" y="54132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B2A3A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5541264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5330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wall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7196328" y="56967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on 12+ languages. One agent cannot cover them.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416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10149840" y="557784"/>
            <a:ext cx="50292" cy="9144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227564" y="502920"/>
            <a:ext cx="50292" cy="201168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305288" y="448056"/>
            <a:ext cx="50292" cy="310896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383012" y="521208"/>
            <a:ext cx="50292" cy="164592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460736" y="420624"/>
            <a:ext cx="50292" cy="36576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538460" y="484632"/>
            <a:ext cx="50292" cy="237744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616184" y="548640"/>
            <a:ext cx="50292" cy="109728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693908" y="466344"/>
            <a:ext cx="50292" cy="27432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771632" y="530352"/>
            <a:ext cx="50292" cy="146304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135331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sheet. The agent calls everyone in parallel and returns engineer-ready outcomes.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02920" y="22128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Hindi-first multilingual AI voice agent that replaces manual dialing with bounded-parallel calls, then captures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recording, transcript, summary, disposition, and next action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connected call.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22960" y="3749040"/>
            <a:ext cx="9070848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324612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261872" y="344728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58444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" y="41148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02920" y="4325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9224" y="46908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or CSV of contacts, locations, machine counts, order IDs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70632" y="324612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529584" y="344728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358444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770632" y="41148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2770632" y="4325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2916936" y="46908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campaign. Set language, retry, and concurrency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038344" y="324612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797296" y="344728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58444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038344" y="41148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038344" y="4325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5184648" y="46908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Bounded-parallel AI voice calls via Plivo + OpenAI Realtime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306056" y="324612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065008" y="344728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3584448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306056" y="41148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7306056" y="4325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7452360" y="46908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Recording, transcript, summary, disposition, next action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9573768" y="324612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10332720" y="344728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3584448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573768" y="41148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9573768" y="4325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9720072" y="46908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Engineer-ready CSV with every original column preserved</a:t>
            </a:r>
            <a:endParaRPr lang="en-US" sz="115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952744"/>
            <a:ext cx="182880" cy="1828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95528" y="5870448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calls (default 5, configurable)</a:t>
            </a:r>
            <a:endParaRPr lang="en-US" sz="11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5952744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3657600" y="5870448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 + 11 Indian languages</a:t>
            </a:r>
            <a:endParaRPr lang="en-US" sz="11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5952744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519672" y="5870448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recording &amp; audit trail</a:t>
            </a:r>
            <a:endParaRPr lang="en-US" sz="11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4856" y="5952744"/>
            <a:ext cx="182880" cy="18288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381744" y="5870448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Simulated-callback demo fallback</a:t>
            </a:r>
            <a:endParaRPr lang="en-US" sz="1100" dirty="0"/>
          </a:p>
        </p:txBody>
      </p:sp>
      <p:sp>
        <p:nvSpPr>
          <p:cNvPr id="55" name="Text 4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416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10149840" y="557784"/>
            <a:ext cx="50292" cy="9144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227564" y="502920"/>
            <a:ext cx="50292" cy="201168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305288" y="448056"/>
            <a:ext cx="50292" cy="310896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383012" y="521208"/>
            <a:ext cx="50292" cy="164592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460736" y="420624"/>
            <a:ext cx="50292" cy="36576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538460" y="484632"/>
            <a:ext cx="50292" cy="237744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616184" y="548640"/>
            <a:ext cx="50292" cy="109728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693908" y="466344"/>
            <a:ext cx="50292" cy="274320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771632" y="530352"/>
            <a:ext cx="50292" cy="146304"/>
          </a:xfrm>
          <a:prstGeom prst="roundRect">
            <a:avLst>
              <a:gd name="adj" fmla="val 36364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 STACK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135331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thin, reliable, webhook-driven system with one always-on voice bridge.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02920" y="21488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148840"/>
            <a:ext cx="82296" cy="1627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4"/>
          <p:cNvSpPr/>
          <p:nvPr/>
        </p:nvSpPr>
        <p:spPr>
          <a:xfrm>
            <a:off x="758952" y="240487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51176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45336" y="2386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&amp; API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545336" y="26243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777240" y="3172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upload, campaign APIs, webhooks, cron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315968" y="21488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315968" y="2148840"/>
            <a:ext cx="82296" cy="1627632"/>
          </a:xfrm>
          <a:prstGeom prst="rect">
            <a:avLst/>
          </a:prstGeom>
          <a:solidFill>
            <a:srgbClr val="0B5E58"/>
          </a:solidFill>
          <a:ln/>
        </p:spPr>
      </p:sp>
      <p:sp>
        <p:nvSpPr>
          <p:cNvPr id="24" name="Shape 20"/>
          <p:cNvSpPr/>
          <p:nvPr/>
        </p:nvSpPr>
        <p:spPr>
          <a:xfrm>
            <a:off x="4572000" y="240487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551176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58384" y="2386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VOICE BRIDGE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358384" y="26243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WebSocket on Render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4590288" y="3172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process holding live audio sessions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129016" y="21488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129016" y="2148840"/>
            <a:ext cx="82296" cy="1627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6"/>
          <p:cNvSpPr/>
          <p:nvPr/>
        </p:nvSpPr>
        <p:spPr>
          <a:xfrm>
            <a:off x="8385048" y="240487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551176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71432" y="2386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TELEPHONY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9171432" y="26243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Plivo AudioStream</a:t>
            </a:r>
            <a:endParaRPr lang="en-US" sz="1650" dirty="0"/>
          </a:p>
        </p:txBody>
      </p:sp>
      <p:sp>
        <p:nvSpPr>
          <p:cNvPr id="35" name="Text 29"/>
          <p:cNvSpPr/>
          <p:nvPr/>
        </p:nvSpPr>
        <p:spPr>
          <a:xfrm>
            <a:off x="8403336" y="3172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calls. Twilio + Exotel adapters ready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502920" y="3995928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02920" y="3995928"/>
            <a:ext cx="82296" cy="1627632"/>
          </a:xfrm>
          <a:prstGeom prst="rect">
            <a:avLst/>
          </a:prstGeom>
          <a:solidFill>
            <a:srgbClr val="0B5E58"/>
          </a:solidFill>
          <a:ln/>
        </p:spPr>
      </p:sp>
      <p:sp>
        <p:nvSpPr>
          <p:cNvPr id="38" name="Shape 32"/>
          <p:cNvSpPr/>
          <p:nvPr/>
        </p:nvSpPr>
        <p:spPr>
          <a:xfrm>
            <a:off x="758952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398264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545336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AI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1545336" y="44714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</a:t>
            </a:r>
            <a:endParaRPr lang="en-US" sz="1650" dirty="0"/>
          </a:p>
        </p:txBody>
      </p:sp>
      <p:sp>
        <p:nvSpPr>
          <p:cNvPr id="42" name="Text 35"/>
          <p:cNvSpPr/>
          <p:nvPr/>
        </p:nvSpPr>
        <p:spPr>
          <a:xfrm>
            <a:off x="777240" y="5020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gpt-realtime, Hindi-first dynamic conversation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315968" y="3995928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4315968" y="3995928"/>
            <a:ext cx="82296" cy="1627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Shape 38"/>
          <p:cNvSpPr/>
          <p:nvPr/>
        </p:nvSpPr>
        <p:spPr>
          <a:xfrm>
            <a:off x="4572000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4398264"/>
            <a:ext cx="347472" cy="34747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58384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5358384" y="44714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650" dirty="0"/>
          </a:p>
        </p:txBody>
      </p:sp>
      <p:sp>
        <p:nvSpPr>
          <p:cNvPr id="49" name="Text 41"/>
          <p:cNvSpPr/>
          <p:nvPr/>
        </p:nvSpPr>
        <p:spPr>
          <a:xfrm>
            <a:off x="4590288" y="5020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contacts, calls, append-only audit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8129016" y="3995928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8129016" y="3995928"/>
            <a:ext cx="82296" cy="1627632"/>
          </a:xfrm>
          <a:prstGeom prst="rect">
            <a:avLst/>
          </a:prstGeom>
          <a:solidFill>
            <a:srgbClr val="0B5E58"/>
          </a:solidFill>
          <a:ln/>
        </p:spPr>
      </p:sp>
      <p:sp>
        <p:nvSpPr>
          <p:cNvPr id="52" name="Shape 44"/>
          <p:cNvSpPr/>
          <p:nvPr/>
        </p:nvSpPr>
        <p:spPr>
          <a:xfrm>
            <a:off x="8385048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4398264"/>
            <a:ext cx="347472" cy="347472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9171432" y="4233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55" name="Text 46"/>
          <p:cNvSpPr/>
          <p:nvPr/>
        </p:nvSpPr>
        <p:spPr>
          <a:xfrm>
            <a:off x="9171432" y="44714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design</a:t>
            </a:r>
            <a:endParaRPr lang="en-US" sz="1650" dirty="0"/>
          </a:p>
        </p:txBody>
      </p:sp>
      <p:sp>
        <p:nvSpPr>
          <p:cNvPr id="56" name="Text 47"/>
          <p:cNvSpPr/>
          <p:nvPr/>
        </p:nvSpPr>
        <p:spPr>
          <a:xfrm>
            <a:off x="8403336" y="5020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webhooks, retries, simulated fallback</a:t>
            </a:r>
            <a:endParaRPr lang="en-US" sz="1150" dirty="0"/>
          </a:p>
        </p:txBody>
      </p:sp>
      <p:sp>
        <p:nvSpPr>
          <p:cNvPr id="57" name="Text 48"/>
          <p:cNvSpPr/>
          <p:nvPr/>
        </p:nvSpPr>
        <p:spPr>
          <a:xfrm>
            <a:off x="502920" y="5943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1325880" y="5925312"/>
            <a:ext cx="10332720" cy="36576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/>
        </p:spPr>
      </p:sp>
      <p:sp>
        <p:nvSpPr>
          <p:cNvPr id="59" name="Text 50"/>
          <p:cNvSpPr/>
          <p:nvPr/>
        </p:nvSpPr>
        <p:spPr>
          <a:xfrm>
            <a:off x="1463040" y="5925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Plivo  →  Vercel answer XML  →  Render voice bridge  →  OpenAI Realtime  →  Supabase</a:t>
            </a:r>
            <a:endParaRPr lang="en-US" sz="1150" dirty="0"/>
          </a:p>
        </p:txBody>
      </p:sp>
      <p:sp>
        <p:nvSpPr>
          <p:cNvPr id="60" name="Text 51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943600" cy="5943600"/>
          </a:xfrm>
          <a:prstGeom prst="ellipse">
            <a:avLst/>
          </a:prstGeom>
          <a:solidFill>
            <a:srgbClr val="0D9488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194560"/>
            <a:ext cx="4754880" cy="4754880"/>
          </a:xfrm>
          <a:prstGeom prst="ellipse">
            <a:avLst/>
          </a:prstGeom>
          <a:solidFill>
            <a:srgbClr val="F59E0B">
              <a:alpha val="9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10149840" y="557784"/>
            <a:ext cx="50292" cy="9144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227564" y="502920"/>
            <a:ext cx="50292" cy="201168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305288" y="448056"/>
            <a:ext cx="50292" cy="310896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383012" y="521208"/>
            <a:ext cx="50292" cy="164592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460736" y="420624"/>
            <a:ext cx="50292" cy="36576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538460" y="484632"/>
            <a:ext cx="50292" cy="237744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616184" y="548640"/>
            <a:ext cx="50292" cy="109728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0693908" y="466344"/>
            <a:ext cx="50292" cy="274320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771632" y="530352"/>
            <a:ext cx="50292" cy="146304"/>
          </a:xfrm>
          <a:prstGeom prst="roundRect">
            <a:avLst>
              <a:gd name="adj" fmla="val 36364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13898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teams that live on outbound confirmation calls.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502920" y="22402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2624328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79776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18488" y="2514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teams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18488" y="2916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pickup readiness across providers at scale.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263640" y="22402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37960" y="2624328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77977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79208" y="2514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379208" y="2916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engineer de-installation with verified data.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02920" y="38862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77240" y="4270248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2569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18488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collections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618488" y="45628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outbound campaigns with clean dispositions.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263640" y="38862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3263D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22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537960" y="4270248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425696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79208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ops managers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7379208" y="45628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4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auditable, exportable outcomes without chasing reps.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0292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ACROSS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02920" y="5742432"/>
            <a:ext cx="1386230" cy="384048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2920" y="5742432"/>
            <a:ext cx="13862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POS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2072030" y="5742432"/>
            <a:ext cx="1638605" cy="384048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2072030" y="5742432"/>
            <a:ext cx="16386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893515" y="5742432"/>
            <a:ext cx="1386230" cy="384048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893515" y="5742432"/>
            <a:ext cx="13862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462626" y="5742432"/>
            <a:ext cx="1470355" cy="384048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462626" y="5742432"/>
            <a:ext cx="14703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field ops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7115861" y="57424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115861" y="5742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O&amp;M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502920" y="6327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dialing out. Auditable, multilingual, parallel AI voice in.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eDial — Pitch</dc:title>
  <dc:subject>PptxGenJS Presentation</dc:subject>
  <dc:creator>Sourabh Bhaumik</dc:creator>
  <cp:lastModifiedBy>Sourabh Bhaumik</cp:lastModifiedBy>
  <cp:revision>1</cp:revision>
  <dcterms:created xsi:type="dcterms:W3CDTF">2026-05-28T16:12:35Z</dcterms:created>
  <dcterms:modified xsi:type="dcterms:W3CDTF">2026-05-28T16:12:35Z</dcterms:modified>
</cp:coreProperties>
</file>